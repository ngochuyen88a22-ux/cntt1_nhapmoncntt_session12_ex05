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6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599" y="2156169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000" b="1" i="0" u="none" dirty="0">
                <a:solidFill>
                  <a:srgbClr val="F8FAFC"/>
                </a:solidFill>
                <a:latin typeface="Inter"/>
              </a:rPr>
              <a:t>Báo Cáo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Sự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Cố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An Ninh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Mạng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&amp;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Chiến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Lược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Phòng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Thủ</a:t>
            </a:r>
            <a:r>
              <a:rPr sz="3000" b="1" i="0" u="none" dirty="0">
                <a:solidFill>
                  <a:srgbClr val="F8FAFC"/>
                </a:solidFill>
                <a:latin typeface="Inter"/>
              </a:rPr>
              <a:t> 3 </a:t>
            </a:r>
            <a:r>
              <a:rPr sz="3000" b="1" i="0" u="none" dirty="0" err="1">
                <a:solidFill>
                  <a:srgbClr val="F8FAFC"/>
                </a:solidFill>
                <a:latin typeface="Inter"/>
              </a:rPr>
              <a:t>Tầng</a:t>
            </a:r>
            <a:endParaRPr sz="30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9785" y="3562701"/>
            <a:ext cx="8680704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Chuẩn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hóa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quy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trình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báo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cáo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tra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cứu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mã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độc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tự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động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và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thiết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lập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hệ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thống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phòng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thủ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chuyên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4A3B8"/>
                </a:solidFill>
                <a:latin typeface="Inter"/>
              </a:rPr>
              <a:t>nghiệp</a:t>
            </a:r>
            <a:r>
              <a:rPr sz="300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457200"/>
            <a:ext cx="443390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Bối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Cảnh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&amp;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Mục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Tiêu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Dự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Án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652837"/>
            <a:ext cx="481965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Xử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lý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nhật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ký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cảnh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báo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thô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và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đối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chiếu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cơ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sở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dữ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để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xuất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báo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cáo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chuyên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nghiệp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khách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hàng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652837"/>
            <a:ext cx="4819650" cy="773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Tự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động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tra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cứu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mã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độc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chuẩn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hóa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văn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bản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báo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cáo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và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trực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quan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hóa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chiến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lược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phòng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thủ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82587"/>
            <a:ext cx="305442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Bối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Cảnh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NetGuard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051809"/>
            <a:ext cx="342625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Mục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Tiêu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Trọng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Tâm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9700"/>
            <a:ext cx="10972800" cy="4991100"/>
          </a:xfrm>
          <a:prstGeom prst="roundRect">
            <a:avLst>
              <a:gd name="adj" fmla="val 30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0861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33425"/>
            <a:ext cx="887537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Cơ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Chế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AutoFilter — "Google Search" </a:t>
            </a:r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Của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Bảng</a:t>
            </a:r>
            <a:r>
              <a:rPr sz="32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200" b="1" i="0" u="none" dirty="0" err="1">
                <a:solidFill>
                  <a:srgbClr val="0F172A"/>
                </a:solidFill>
                <a:latin typeface="Inter"/>
              </a:rPr>
              <a:t>Tính</a:t>
            </a:r>
            <a:endParaRPr sz="32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20812" y="3733800"/>
            <a:ext cx="395037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Trích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Lọc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Dữ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Liệu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Tức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Thì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8812" y="4204990"/>
            <a:ext cx="833437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u="none" dirty="0">
                <a:solidFill>
                  <a:srgbClr val="475569"/>
                </a:solidFill>
                <a:latin typeface="Inter"/>
              </a:rPr>
              <a:t>AutoFilter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đóng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vai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trò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như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thanh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tìm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kiếm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thông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minh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: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quét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nhanh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hàng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nghìn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nhật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ký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hệ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thống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cô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lập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sự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cố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nghiêm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trọng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và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loại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bỏ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nhiễu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dữ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chỉ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với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một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thao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Inter"/>
              </a:rPr>
              <a:t>tác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43275"/>
            <a:ext cx="412200" cy="46166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343275"/>
            <a:ext cx="495300" cy="43338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34327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1501676"/>
            <a:ext cx="567072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Kỹ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Thuật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Tra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Cứu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Mã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Độc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Chính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Xác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762375"/>
            <a:ext cx="254460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Inter"/>
              </a:rPr>
              <a:t>Tra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Cứu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Mã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Độc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176415"/>
            <a:ext cx="299085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Hàm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VLOOKUP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tự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động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nối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cơ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sở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dữ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virus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với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nhật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ký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hệ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thống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920" y="3762375"/>
            <a:ext cx="374044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Làm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Sạch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Khoảng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Trắng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66920" y="4153495"/>
            <a:ext cx="299085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Hàm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TRIM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bọc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Lookup_value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triệt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tiêu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triệt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để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ký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tự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rác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thừa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762375"/>
            <a:ext cx="302172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Kết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Quả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Chuẩn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Xác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0" y="4224040"/>
            <a:ext cx="299085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Loại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bỏ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hoàn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toàn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lỗi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#N/A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khi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truy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xuất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tên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mã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độc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4849"/>
            <a:ext cx="538480" cy="47864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24485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051232"/>
            <a:ext cx="707725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Chuẩn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Hóa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Cấu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Trúc Báo Cáo Chuyên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Nghiệp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702050"/>
            <a:ext cx="259135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Inter"/>
              </a:rPr>
              <a:t>Navigation Pane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64025"/>
            <a:ext cx="481965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475569"/>
                </a:solidFill>
                <a:latin typeface="Inter"/>
              </a:rPr>
              <a:t>Quản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lý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toàn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bộ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cấu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trúc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báo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cáo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sự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cố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, di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chuyển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nhanh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giữa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các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mục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trong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tài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dài</a:t>
            </a:r>
            <a:endParaRPr sz="300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752850"/>
            <a:ext cx="458599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Inter"/>
              </a:rPr>
              <a:t>Auto TOC (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Mục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Lục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Tự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Động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114800"/>
            <a:ext cx="481965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Tự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động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cập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nhật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chính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xác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số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trang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khi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tài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liệu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mở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rộng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lên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hàng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chục</a:t>
            </a:r>
            <a:r>
              <a:rPr sz="30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475569"/>
                </a:solidFill>
                <a:latin typeface="Inter"/>
              </a:rPr>
              <a:t>trang</a:t>
            </a:r>
            <a:endParaRPr sz="3000" b="0" i="0" u="none" dirty="0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66010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56610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38650"/>
            <a:ext cx="10972800" cy="838200"/>
          </a:xfrm>
          <a:prstGeom prst="roundRect">
            <a:avLst>
              <a:gd name="adj" fmla="val 909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8650" y="2381250"/>
            <a:ext cx="57150" cy="838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8175" y="3362960"/>
            <a:ext cx="57150" cy="838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438650"/>
            <a:ext cx="57150" cy="838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26030"/>
            <a:ext cx="647700" cy="5181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925" y="3600450"/>
            <a:ext cx="5715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7468" y="4665017"/>
            <a:ext cx="403957" cy="4616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33425"/>
            <a:ext cx="739510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Sơ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Đồ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Chiến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Lược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Phòng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Thủ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3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Tầng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NetGuard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2323445"/>
            <a:ext cx="648530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4532D"/>
                </a:solidFill>
                <a:latin typeface="Inter"/>
              </a:rPr>
              <a:t>Tầng</a:t>
            </a:r>
            <a:r>
              <a:rPr sz="3000" b="1" i="0" u="none" dirty="0">
                <a:solidFill>
                  <a:srgbClr val="14532D"/>
                </a:solidFill>
                <a:latin typeface="Inter"/>
              </a:rPr>
              <a:t> 1: </a:t>
            </a:r>
            <a:r>
              <a:rPr sz="3000" b="1" i="0" u="none" dirty="0" err="1">
                <a:solidFill>
                  <a:srgbClr val="14532D"/>
                </a:solidFill>
                <a:latin typeface="Inter"/>
              </a:rPr>
              <a:t>Vành</a:t>
            </a:r>
            <a:r>
              <a:rPr sz="3000" b="1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14532D"/>
                </a:solidFill>
                <a:latin typeface="Inter"/>
              </a:rPr>
              <a:t>Đai</a:t>
            </a:r>
            <a:r>
              <a:rPr sz="3000" b="1" i="0" u="none" dirty="0">
                <a:solidFill>
                  <a:srgbClr val="14532D"/>
                </a:solidFill>
                <a:latin typeface="Inter"/>
              </a:rPr>
              <a:t> Internet (Edge Security)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2757785"/>
            <a:ext cx="742235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166534"/>
                </a:solidFill>
                <a:latin typeface="Inter"/>
              </a:rPr>
              <a:t>Firewall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thế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hệ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mới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, WAF,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Chống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tấn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công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DDoS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343870"/>
            <a:ext cx="564410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E3A8A"/>
                </a:solidFill>
                <a:latin typeface="Inter"/>
              </a:rPr>
              <a:t>Tầng</a:t>
            </a:r>
            <a:r>
              <a:rPr sz="3000" b="1" i="0" u="none" dirty="0">
                <a:solidFill>
                  <a:srgbClr val="1E3A8A"/>
                </a:solidFill>
                <a:latin typeface="Inter"/>
              </a:rPr>
              <a:t> 2: </a:t>
            </a:r>
            <a:r>
              <a:rPr sz="3000" b="1" i="0" u="none" dirty="0" err="1">
                <a:solidFill>
                  <a:srgbClr val="1E3A8A"/>
                </a:solidFill>
                <a:latin typeface="Inter"/>
              </a:rPr>
              <a:t>Nội</a:t>
            </a:r>
            <a:r>
              <a:rPr sz="3000" b="1" i="0" u="none" dirty="0">
                <a:solidFill>
                  <a:srgbClr val="1E3A8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1E3A8A"/>
                </a:solidFill>
                <a:latin typeface="Inter"/>
              </a:rPr>
              <a:t>Bộ</a:t>
            </a:r>
            <a:r>
              <a:rPr sz="3000" b="1" i="0" u="none" dirty="0">
                <a:solidFill>
                  <a:srgbClr val="1E3A8A"/>
                </a:solidFill>
                <a:latin typeface="Inter"/>
              </a:rPr>
              <a:t> Network &amp;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774440"/>
            <a:ext cx="877150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1E40AF"/>
                </a:solidFill>
                <a:latin typeface="Inter"/>
              </a:rPr>
              <a:t>EDR, </a:t>
            </a:r>
            <a:r>
              <a:rPr sz="3000" b="0" i="0" u="none" dirty="0" err="1">
                <a:solidFill>
                  <a:srgbClr val="1E40AF"/>
                </a:solidFill>
                <a:latin typeface="Inter"/>
              </a:rPr>
              <a:t>Phân</a:t>
            </a:r>
            <a:r>
              <a:rPr sz="3000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E40AF"/>
                </a:solidFill>
                <a:latin typeface="Inter"/>
              </a:rPr>
              <a:t>đoạn</a:t>
            </a:r>
            <a:r>
              <a:rPr sz="3000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E40AF"/>
                </a:solidFill>
                <a:latin typeface="Inter"/>
              </a:rPr>
              <a:t>mạng</a:t>
            </a:r>
            <a:r>
              <a:rPr sz="3000" b="0" i="0" u="none" dirty="0">
                <a:solidFill>
                  <a:srgbClr val="1E40AF"/>
                </a:solidFill>
                <a:latin typeface="Inter"/>
              </a:rPr>
              <a:t> VLAN, Quản </a:t>
            </a:r>
            <a:r>
              <a:rPr sz="3000" b="0" i="0" u="none" dirty="0" err="1">
                <a:solidFill>
                  <a:srgbClr val="1E40AF"/>
                </a:solidFill>
                <a:latin typeface="Inter"/>
              </a:rPr>
              <a:t>lý</a:t>
            </a:r>
            <a:r>
              <a:rPr sz="3000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E40AF"/>
                </a:solidFill>
                <a:latin typeface="Inter"/>
              </a:rPr>
              <a:t>truy</a:t>
            </a:r>
            <a:r>
              <a:rPr sz="3000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E40AF"/>
                </a:solidFill>
                <a:latin typeface="Inter"/>
              </a:rPr>
              <a:t>cập</a:t>
            </a:r>
            <a:r>
              <a:rPr sz="3000" b="0" i="0" u="none" dirty="0">
                <a:solidFill>
                  <a:srgbClr val="1E40AF"/>
                </a:solidFill>
                <a:latin typeface="Inter"/>
              </a:rPr>
              <a:t> Zero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4434185"/>
            <a:ext cx="531068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7F1D1D"/>
                </a:solidFill>
                <a:latin typeface="Inter"/>
              </a:rPr>
              <a:t>Tầng</a:t>
            </a:r>
            <a:r>
              <a:rPr sz="3000" b="1" i="0" u="none" dirty="0">
                <a:solidFill>
                  <a:srgbClr val="7F1D1D"/>
                </a:solidFill>
                <a:latin typeface="Inter"/>
              </a:rPr>
              <a:t> 3: </a:t>
            </a:r>
            <a:r>
              <a:rPr sz="3000" b="1" i="0" u="none" dirty="0" err="1">
                <a:solidFill>
                  <a:srgbClr val="7F1D1D"/>
                </a:solidFill>
                <a:latin typeface="Inter"/>
              </a:rPr>
              <a:t>Dữ</a:t>
            </a:r>
            <a:r>
              <a:rPr sz="3000" b="1" i="0" u="none" dirty="0">
                <a:solidFill>
                  <a:srgbClr val="7F1D1D"/>
                </a:solidFill>
                <a:latin typeface="Inter"/>
              </a:rPr>
              <a:t> Liệu &amp; </a:t>
            </a:r>
            <a:r>
              <a:rPr sz="3000" b="1" i="0" u="none" dirty="0" err="1">
                <a:solidFill>
                  <a:srgbClr val="7F1D1D"/>
                </a:solidFill>
                <a:latin typeface="Inter"/>
              </a:rPr>
              <a:t>Ứng</a:t>
            </a:r>
            <a:r>
              <a:rPr sz="3000" b="1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7F1D1D"/>
                </a:solidFill>
                <a:latin typeface="Inter"/>
              </a:rPr>
              <a:t>Dụng</a:t>
            </a:r>
            <a:r>
              <a:rPr sz="3000" b="1" i="0" u="none" dirty="0">
                <a:solidFill>
                  <a:srgbClr val="7F1D1D"/>
                </a:solidFill>
                <a:latin typeface="Inter"/>
              </a:rPr>
              <a:t>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844088"/>
            <a:ext cx="880157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Mã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hóa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dữ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liệu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SQL,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Giám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sát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SIEM/SOC, Backup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định</a:t>
            </a:r>
            <a:r>
              <a:rPr sz="3000" b="0" i="0" u="none" dirty="0">
                <a:solidFill>
                  <a:srgbClr val="991B1B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91B1B"/>
                </a:solidFill>
                <a:latin typeface="Inter"/>
              </a:rPr>
              <a:t>kỳ</a:t>
            </a:r>
            <a:endParaRPr sz="3000" b="0" i="0" u="none" dirty="0">
              <a:solidFill>
                <a:srgbClr val="991B1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0375"/>
            <a:ext cx="5334000" cy="1809750"/>
          </a:xfrm>
          <a:prstGeom prst="roundRect">
            <a:avLst>
              <a:gd name="adj" fmla="val 631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00375"/>
            <a:ext cx="5334000" cy="1809750"/>
          </a:xfrm>
          <a:prstGeom prst="roundRect">
            <a:avLst>
              <a:gd name="adj" fmla="val 631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4" y="3111182"/>
            <a:ext cx="407035" cy="4070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4" y="3086100"/>
            <a:ext cx="447675" cy="447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046" y="1186835"/>
            <a:ext cx="600363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Inter"/>
              </a:rPr>
              <a:t>Quy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Chuẩn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Font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Trình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Chiếu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Projector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518217"/>
            <a:ext cx="387388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881337"/>
                </a:solidFill>
                <a:latin typeface="Inter"/>
              </a:rPr>
              <a:t>Cấm</a:t>
            </a:r>
            <a:r>
              <a:rPr sz="3000" b="1" i="0" u="none" dirty="0">
                <a:solidFill>
                  <a:srgbClr val="881337"/>
                </a:solidFill>
                <a:latin typeface="Inter"/>
              </a:rPr>
              <a:t>: Times New Roman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00755"/>
            <a:ext cx="48006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9F1239"/>
                </a:solidFill>
                <a:latin typeface="Inter"/>
              </a:rPr>
              <a:t>Font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có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chân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gây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mờ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,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khó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đọc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khi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chiếu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xa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trên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máy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9F1239"/>
                </a:solidFill>
                <a:latin typeface="Inter"/>
              </a:rPr>
              <a:t>chiếu</a:t>
            </a:r>
            <a:r>
              <a:rPr sz="3000" b="0" i="0" u="none" dirty="0">
                <a:solidFill>
                  <a:srgbClr val="9F123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18216"/>
            <a:ext cx="411824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4532D"/>
                </a:solidFill>
                <a:latin typeface="Inter"/>
              </a:rPr>
              <a:t>Chuẩn</a:t>
            </a:r>
            <a:r>
              <a:rPr sz="3000" b="1" i="0" u="none" dirty="0">
                <a:solidFill>
                  <a:srgbClr val="14532D"/>
                </a:solidFill>
                <a:latin typeface="Inter"/>
              </a:rPr>
              <a:t>: Inter / Montserrat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7925" y="3877597"/>
            <a:ext cx="532447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166534"/>
                </a:solidFill>
                <a:latin typeface="Inter"/>
              </a:rPr>
              <a:t>Font Sans-serif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nét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nét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rõ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ràng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,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tối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ưu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độ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hiển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thị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độ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phân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giải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 </a:t>
            </a:r>
            <a:r>
              <a:rPr sz="3000" b="0" i="0" u="none" dirty="0" err="1">
                <a:solidFill>
                  <a:srgbClr val="166534"/>
                </a:solidFill>
                <a:latin typeface="Inter"/>
              </a:rPr>
              <a:t>cao</a:t>
            </a:r>
            <a:r>
              <a:rPr sz="3000" b="0" i="0" u="none" dirty="0">
                <a:solidFill>
                  <a:srgbClr val="166534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398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Ngoc Huyen</cp:lastModifiedBy>
  <cp:revision>2</cp:revision>
  <dcterms:created xsi:type="dcterms:W3CDTF">2013-01-27T09:14:16Z</dcterms:created>
  <dcterms:modified xsi:type="dcterms:W3CDTF">2026-10-26T14:47:46Z</dcterms:modified>
  <cp:category/>
</cp:coreProperties>
</file>